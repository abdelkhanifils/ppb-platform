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097280"/>
            <a:ext cx="3657600" cy="3657600"/>
          </a:xfrm>
          <a:prstGeom prst="ellipse">
            <a:avLst/>
          </a:prstGeom>
          <a:solidFill>
            <a:srgbClr val="159A4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3291840"/>
            <a:ext cx="3200400" cy="3200400"/>
          </a:xfrm>
          <a:prstGeom prst="ellipse">
            <a:avLst/>
          </a:prstGeom>
          <a:solidFill>
            <a:srgbClr val="159A4A">
              <a:alpha val="45000"/>
            </a:srgbClr>
          </a:solidFill>
          <a:ln/>
        </p:spPr>
      </p:sp>
      <p:pic>
        <p:nvPicPr>
          <p:cNvPr id="5" name="Image 0" descr="/home/claude/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11480"/>
            <a:ext cx="2377440" cy="6062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DE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65760" y="1984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CLÔTURE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365760" y="24140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CONCEPTION ET DESIGN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solidFill>
            <a:srgbClr val="C5E8CF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Jours J6 à J15 — Support de validation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06240" y="1051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AMI/CEBEVIRHA/FLUVIAC/PPB/2026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06240" y="146304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des travaux de conception, en vue du PV de validation (J15)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206240" y="2926080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/>
        </p:spPr>
      </p:sp>
      <p:sp>
        <p:nvSpPr>
          <p:cNvPr id="14" name="Text 11"/>
          <p:cNvSpPr/>
          <p:nvPr/>
        </p:nvSpPr>
        <p:spPr>
          <a:xfrm>
            <a:off x="4206240" y="29260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Durée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0" y="292608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J6 → J15, sur 75 jours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06240" y="3429000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/>
        </p:spPr>
      </p:sp>
      <p:sp>
        <p:nvSpPr>
          <p:cNvPr id="17" name="Text 14"/>
          <p:cNvSpPr/>
          <p:nvPr/>
        </p:nvSpPr>
        <p:spPr>
          <a:xfrm>
            <a:off x="4206240" y="34290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0" y="342900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complet — validation formelle en attente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déjà partagés avec l'équipe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949440" y="786384"/>
            <a:ext cx="18745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0" y="78638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MAIL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documents ont déjà été transmis par mail à l'équipe et validés lors des réunions du 05/08 et du 07/08/2026 ; ce dossier ne les re-détaille pas, il présente ce qui a été produit depuis.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965960"/>
            <a:ext cx="1993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50976" y="2167128"/>
            <a:ext cx="731520" cy="73152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1" name="Image 1" descr="/home/claude/assets/clipboard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3500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" y="301752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de démarrage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93192" y="341071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Cadrage initial de la mission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450592" y="1965960"/>
            <a:ext cx="1993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081528" y="2167128"/>
            <a:ext cx="731520" cy="73152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6" name="Image 2" descr="/home/claude/assets/file_in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3500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23744" y="301752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de cadrage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2523744" y="341071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et orientations techniques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581144" y="1965960"/>
            <a:ext cx="1993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212080" y="2167128"/>
            <a:ext cx="731520" cy="73152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1" name="Image 3" descr="/home/claude/assets/id_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35000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54296" y="301752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initiales du PPB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654296" y="341071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Premières versions du passeport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711696" y="1965960"/>
            <a:ext cx="199339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42632" y="2167128"/>
            <a:ext cx="731520" cy="73152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6" name="Image 4" descr="/home/claude/assets/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235000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84848" y="301752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de délivrance (V1)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784848" y="341071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initiale, avant enrichissements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320040" y="3977640"/>
            <a:ext cx="8503920" cy="685800"/>
          </a:xfrm>
          <a:prstGeom prst="roundRect">
            <a:avLst>
              <a:gd name="adj" fmla="val 8000"/>
            </a:avLst>
          </a:prstGeom>
          <a:solidFill>
            <a:srgbClr val="FDF6DC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schéma de délivrance a beaucoup évolué depuis : impression décentralisée, synchronisation automatique, conformité d'itinéraire. Ce dossier présente uniquement la version enrichie.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2" name="Text 25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/ 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du dossier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426464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426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 du périmètre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1627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et activités attendues de la Phase 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1993392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du PPB (J6-J7)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21945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mise en page, 2 versions linguistiques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560320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Sécurisation (J8-J9)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2761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QR, guillochés, impression décentralisée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3127248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19" name="Text 16"/>
          <p:cNvSpPr/>
          <p:nvPr/>
        </p:nvSpPr>
        <p:spPr>
          <a:xfrm>
            <a:off x="32004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0723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numérique (J11-J12)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" y="33284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BDD, API, diagrammes, infrastructure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54880" y="1426464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1426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25780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contrôle (J13-J14)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57800" y="1627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mobile, hors-ligne, synchronisation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54880" y="1993392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27" name="Text 24"/>
          <p:cNvSpPr/>
          <p:nvPr/>
        </p:nvSpPr>
        <p:spPr>
          <a:xfrm>
            <a:off x="4754880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257800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structurantes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57800" y="21945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Paiement, configuration dynamique, itinéraire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54880" y="2560320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31" name="Text 28"/>
          <p:cNvSpPr/>
          <p:nvPr/>
        </p:nvSpPr>
        <p:spPr>
          <a:xfrm>
            <a:off x="475488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257800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produits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257800" y="2761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complète des documents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54880" y="3127248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35" name="Text 32"/>
          <p:cNvSpPr/>
          <p:nvPr/>
        </p:nvSpPr>
        <p:spPr>
          <a:xfrm>
            <a:off x="475488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257800" y="30723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demandée (J15)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257800" y="33284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reste, et la suite (Phase 3)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9" name="Text 36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/ 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 DU PÉRIMÈTRE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Conception et design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949440" y="786384"/>
            <a:ext cx="18745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0" y="78638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J6 → J15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801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Concevoir la nouvelle mouture physique du PPB et l'architecture du système numérique. »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828800"/>
            <a:ext cx="7589520" cy="475488"/>
          </a:xfrm>
          <a:prstGeom prst="roundRect">
            <a:avLst>
              <a:gd name="adj" fmla="val 8654"/>
            </a:avLst>
          </a:prstGeom>
          <a:solidFill>
            <a:srgbClr val="F3FBF6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1828800"/>
            <a:ext cx="73152" cy="47548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" y="1860804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12" name="Shape 9"/>
          <p:cNvSpPr/>
          <p:nvPr/>
        </p:nvSpPr>
        <p:spPr>
          <a:xfrm>
            <a:off x="393192" y="1915668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" y="18608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16152" y="190487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J6-J7 — Format et mise en page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216152" y="2057034"/>
            <a:ext cx="6766560" cy="201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couverture, mise en page 4 pages A5, typographies bilingues, éléments de sécurité visuels.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21208" y="2304288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359152"/>
            <a:ext cx="7589520" cy="475488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60120" y="2359152"/>
            <a:ext cx="73152" cy="47548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9" name="Shape 16"/>
          <p:cNvSpPr/>
          <p:nvPr/>
        </p:nvSpPr>
        <p:spPr>
          <a:xfrm>
            <a:off x="338328" y="2391156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20" name="Shape 17"/>
          <p:cNvSpPr/>
          <p:nvPr/>
        </p:nvSpPr>
        <p:spPr>
          <a:xfrm>
            <a:off x="393192" y="2446020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338328" y="23911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16152" y="243523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J8-J9 — Contenu et sécurisation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216152" y="2587386"/>
            <a:ext cx="6766560" cy="201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Code, hologramme, guillochés, papier sécurisé, certification imprimeries locales.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21208" y="2834640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25" name="Shape 22"/>
          <p:cNvSpPr/>
          <p:nvPr/>
        </p:nvSpPr>
        <p:spPr>
          <a:xfrm>
            <a:off x="960120" y="2889504"/>
            <a:ext cx="7589520" cy="475488"/>
          </a:xfrm>
          <a:prstGeom prst="roundRect">
            <a:avLst>
              <a:gd name="adj" fmla="val 8654"/>
            </a:avLst>
          </a:prstGeom>
          <a:solidFill>
            <a:srgbClr val="F3FBF6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60120" y="2889504"/>
            <a:ext cx="73152" cy="47548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27" name="Shape 24"/>
          <p:cNvSpPr/>
          <p:nvPr/>
        </p:nvSpPr>
        <p:spPr>
          <a:xfrm>
            <a:off x="338328" y="2921508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28" name="Shape 25"/>
          <p:cNvSpPr/>
          <p:nvPr/>
        </p:nvSpPr>
        <p:spPr>
          <a:xfrm>
            <a:off x="393192" y="2976372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338328" y="29215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16152" y="2965582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J10 — Validation intermédiaire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216152" y="3117738"/>
            <a:ext cx="6766560" cy="201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des maquettes, recueil des observations, ajustements.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21208" y="3364992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33" name="Shape 30"/>
          <p:cNvSpPr/>
          <p:nvPr/>
        </p:nvSpPr>
        <p:spPr>
          <a:xfrm>
            <a:off x="960120" y="3419856"/>
            <a:ext cx="7589520" cy="475488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60120" y="3419856"/>
            <a:ext cx="73152" cy="47548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5" name="Shape 32"/>
          <p:cNvSpPr/>
          <p:nvPr/>
        </p:nvSpPr>
        <p:spPr>
          <a:xfrm>
            <a:off x="338328" y="3451860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36" name="Shape 33"/>
          <p:cNvSpPr/>
          <p:nvPr/>
        </p:nvSpPr>
        <p:spPr>
          <a:xfrm>
            <a:off x="393192" y="3506724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338328" y="34518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216152" y="349593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J11-J12 — Architecture plateforme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1216152" y="3648090"/>
            <a:ext cx="6766560" cy="201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BDD, architecture API REST, diagrammes de flux, infrastructure, schéma impression.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21208" y="3895344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41" name="Shape 38"/>
          <p:cNvSpPr/>
          <p:nvPr/>
        </p:nvSpPr>
        <p:spPr>
          <a:xfrm>
            <a:off x="960120" y="3950208"/>
            <a:ext cx="7589520" cy="475488"/>
          </a:xfrm>
          <a:prstGeom prst="roundRect">
            <a:avLst>
              <a:gd name="adj" fmla="val 8654"/>
            </a:avLst>
          </a:prstGeom>
          <a:solidFill>
            <a:srgbClr val="F3FBF6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60120" y="3950208"/>
            <a:ext cx="73152" cy="47548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43" name="Shape 40"/>
          <p:cNvSpPr/>
          <p:nvPr/>
        </p:nvSpPr>
        <p:spPr>
          <a:xfrm>
            <a:off x="338328" y="3982212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44" name="Shape 41"/>
          <p:cNvSpPr/>
          <p:nvPr/>
        </p:nvSpPr>
        <p:spPr>
          <a:xfrm>
            <a:off x="393192" y="4037076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338328" y="39822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16152" y="4026286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J13-J14 — Système de contrôle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1216152" y="4178442"/>
            <a:ext cx="6766560" cy="201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 contrôle, mode hors-ligne, protocole de vérification QR, synchronisation.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521208" y="4425696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49" name="Shape 46"/>
          <p:cNvSpPr/>
          <p:nvPr/>
        </p:nvSpPr>
        <p:spPr>
          <a:xfrm>
            <a:off x="960120" y="4480560"/>
            <a:ext cx="7589520" cy="475488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60120" y="4480560"/>
            <a:ext cx="73152" cy="475488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51" name="Shape 48"/>
          <p:cNvSpPr/>
          <p:nvPr/>
        </p:nvSpPr>
        <p:spPr>
          <a:xfrm>
            <a:off x="338328" y="4512564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" y="4567428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338328" y="45125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216152" y="455663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J15 — Synthèse et validation</a:t>
            </a:r>
            <a:endParaRPr lang="en-US" sz="1350" dirty="0"/>
          </a:p>
        </p:txBody>
      </p:sp>
      <p:sp>
        <p:nvSpPr>
          <p:cNvPr id="55" name="Text 52"/>
          <p:cNvSpPr/>
          <p:nvPr/>
        </p:nvSpPr>
        <p:spPr>
          <a:xfrm>
            <a:off x="1216152" y="4708794"/>
            <a:ext cx="6766560" cy="201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Compilation du schéma numérique global, présentation CEBEVIRHA, PV de validation.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7" name="Text 54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/ 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J6-J7 · LIVRÉ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du PPB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VERSIONS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Passeport A5, 4 pages recto-verso sur une feuille A4 pliée, avec fond guilloché de sécurité, logo CEBEVIRHA et numérotation en cases.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1" name="Image 1" descr="/home/claude/assets/id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155698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FR/EN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74904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Cameroun et échanges anglophones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2020824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78024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6" name="Image 2" descr="/home/claude/assets/globe_afric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74" y="2155698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75688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FR/AR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075688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Tchad, RCA — mise en page RTL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3721608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78808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1" name="Image 3" descr="/home/claude/assets/shield_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258" y="2155698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76472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visuelle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776472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Guilloché, comb boxes, QR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5422392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79592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6" name="Image 4" descr="/home/claude/assets/pr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042" y="2155698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77256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à imprimer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77256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 versionné (gabarit_version)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7123176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580376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31" name="Image 5" descr="/home/claude/assets/pen_fanc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826" y="2155698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Textes modifiables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178040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à deux comptes (proposé/validé)</a:t>
            </a:r>
            <a:endParaRPr lang="en-US" sz="830" dirty="0"/>
          </a:p>
        </p:txBody>
      </p:sp>
      <p:sp>
        <p:nvSpPr>
          <p:cNvPr id="34" name="Text 26"/>
          <p:cNvSpPr/>
          <p:nvPr/>
        </p:nvSpPr>
        <p:spPr>
          <a:xfrm>
            <a:off x="320040" y="3703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: Passeport_Betail_A5_4pages.docx (FR/EN) et Passeport_Betail_A5_4pages_FR_AR.docx.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6" name="Text 2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/ 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J8-J9 · LIVRÉ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et sécurisation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DÉCENTRALISÉE ENCADRÉE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Éléments de sécurité du document et garde-fous de l'impression décentralisée par pays.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1" name="Image 1" descr="/home/claude/assets/q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155698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+ signature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74904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RSA-2048 / ECDSA P-256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2020824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78024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6" name="Image 2" descr="/home/claude/asset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74" y="2155698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75688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Plage fermée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075688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génération libre de numéros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3721608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78808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1" name="Image 3" descr="/home/claude/assets/shield_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258" y="2155698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76472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Matériel contrôlé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776472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Papier, encre validés CEBEVIRHA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5422392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79592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6" name="Image 4" descr="/home/claude/assets/clipboard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042" y="2155698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77256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Déclaration obligatoire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77256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remise aux postes vétérinaires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7123176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580376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31" name="Image 5" descr="/home/claude/assets/sync_a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826" y="2155698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 de suspension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178040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cas d’anomalie constatée</a:t>
            </a:r>
            <a:endParaRPr lang="en-US" sz="830" dirty="0"/>
          </a:p>
        </p:txBody>
      </p:sp>
      <p:sp>
        <p:nvSpPr>
          <p:cNvPr id="34" name="Text 26"/>
          <p:cNvSpPr/>
          <p:nvPr/>
        </p:nvSpPr>
        <p:spPr>
          <a:xfrm>
            <a:off x="320040" y="3703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complet dans le Schéma de délivrance et le Document technique, Module 3 — Impression.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6" name="Text 2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/ 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J11-J12 · LIVRÉ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la plateforme numérique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DOCUMENTS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des données, architecture applicative, diagrammes de flux et choix d'infrastructure.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1" name="Image 1" descr="/home/claude/asset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155698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PostGIS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74904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entités modélisées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2020824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78024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6" name="Image 2" descr="/home/claude/asset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74" y="2155698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75688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React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075688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services métier, API REST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3721608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78808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1" name="Image 3" descr="/home/claude/assets/cloud_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258" y="2155698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76472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OVHcloud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776472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Hébergement souverain francophone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5422392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79592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6" name="Image 4" descr="/home/claude/assets/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042" y="2155698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77256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diagrammes UML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77256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d’usage à déploiement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7123176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580376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31" name="Image 5" descr="/home/claude/assets/clipboard_li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826" y="2155698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dynamique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178040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Formulaires et prix sans code</a:t>
            </a:r>
            <a:endParaRPr lang="en-US" sz="830" dirty="0"/>
          </a:p>
        </p:txBody>
      </p:sp>
      <p:sp>
        <p:nvSpPr>
          <p:cNvPr id="34" name="Text 26"/>
          <p:cNvSpPr/>
          <p:nvPr/>
        </p:nvSpPr>
        <p:spPr>
          <a:xfrm>
            <a:off x="320040" y="3703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: Document de conception, Document technique d'implémentation, Document d'architecture technique.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6" name="Text 2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/ 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J13-J14 · LIVRÉ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contrôle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LIGNE / HORS-LIGNE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de contrôle aux frontières, avec vérification garantie même sans connexion.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1" name="Image 1" descr="/home/claude/assets/mobile_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155698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installable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74904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magasin d’application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2020824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78024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6" name="Image 2" descr="/home/claude/assets/wif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74" y="2155698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75688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Hors-ligne 60 jours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075688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local de clés publiques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3721608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78808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1" name="Image 3" descr="/home/claude/assets/sync_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258" y="2155698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76472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automatique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776472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+ pull, sans action agent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5422392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79592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6" name="Image 4" descr="/home/claude/assets/map_mark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042" y="2155698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77256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trajet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77256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 l’itinéraire déclaré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7123176" y="1783080"/>
            <a:ext cx="1600200" cy="17373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580376" y="198424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31" name="Image 5" descr="/home/claude/assets/file_invo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826" y="2155698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277063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 papier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178040" y="310896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itinéraire non synchronisé</a:t>
            </a:r>
            <a:endParaRPr lang="en-US" sz="830" dirty="0"/>
          </a:p>
        </p:txBody>
      </p:sp>
      <p:sp>
        <p:nvSpPr>
          <p:cNvPr id="34" name="Text 26"/>
          <p:cNvSpPr/>
          <p:nvPr/>
        </p:nvSpPr>
        <p:spPr>
          <a:xfrm>
            <a:off x="320040" y="3703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mécanisme de synchronisation différentielle (delta) limite la consommation de données sur le terrain.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6" name="Text 2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/ 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STRUCTURANTES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majeurs pris durant la Phase 2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60120" y="1280160"/>
            <a:ext cx="7589520" cy="694944"/>
          </a:xfrm>
          <a:prstGeom prst="roundRect">
            <a:avLst>
              <a:gd name="adj" fmla="val 5921"/>
            </a:avLst>
          </a:prstGeom>
          <a:solidFill>
            <a:srgbClr val="F3FBF6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1280160"/>
            <a:ext cx="73152" cy="694944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8" name="Shape 5"/>
          <p:cNvSpPr/>
          <p:nvPr/>
        </p:nvSpPr>
        <p:spPr>
          <a:xfrm>
            <a:off x="338328" y="1421892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9" name="Shape 6"/>
          <p:cNvSpPr/>
          <p:nvPr/>
        </p:nvSpPr>
        <p:spPr>
          <a:xfrm>
            <a:off x="393192" y="1476756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" y="14218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16152" y="1391351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à deux vitesses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216152" y="1613733"/>
            <a:ext cx="5303520" cy="315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ligne (CinetPay) automatique sous plafond ; présentiel/virement validé par un agent CEBEVIRHA au-delà.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949440" y="1280160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1208" y="2002536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057400"/>
            <a:ext cx="7589520" cy="694944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0120" y="2057400"/>
            <a:ext cx="73152" cy="694944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17" name="Shape 14"/>
          <p:cNvSpPr/>
          <p:nvPr/>
        </p:nvSpPr>
        <p:spPr>
          <a:xfrm>
            <a:off x="338328" y="2199132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18" name="Shape 15"/>
          <p:cNvSpPr/>
          <p:nvPr/>
        </p:nvSpPr>
        <p:spPr>
          <a:xfrm>
            <a:off x="393192" y="2253996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38328" y="21991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16152" y="2168591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dynamique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216152" y="2390973"/>
            <a:ext cx="5303520" cy="315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Formulaires, prix et plafonds pilotables par le Super Admin, sans code ni redéploiement.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49440" y="2057400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Admin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21208" y="2779776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24" name="Shape 21"/>
          <p:cNvSpPr/>
          <p:nvPr/>
        </p:nvSpPr>
        <p:spPr>
          <a:xfrm>
            <a:off x="960120" y="2834640"/>
            <a:ext cx="7589520" cy="694944"/>
          </a:xfrm>
          <a:prstGeom prst="roundRect">
            <a:avLst>
              <a:gd name="adj" fmla="val 5921"/>
            </a:avLst>
          </a:prstGeom>
          <a:solidFill>
            <a:srgbClr val="F3FBF6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60120" y="2834640"/>
            <a:ext cx="73152" cy="694944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26" name="Shape 23"/>
          <p:cNvSpPr/>
          <p:nvPr/>
        </p:nvSpPr>
        <p:spPr>
          <a:xfrm>
            <a:off x="338328" y="2976372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27" name="Shape 24"/>
          <p:cNvSpPr/>
          <p:nvPr/>
        </p:nvSpPr>
        <p:spPr>
          <a:xfrm>
            <a:off x="393192" y="3031236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338328" y="29763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216152" y="2945831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Itinéraire non prédéfini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216152" y="3168213"/>
            <a:ext cx="5303520" cy="315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Origine/destination déclarées à l’émission, jamais à la commande — déterminent la validité du trajet.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949440" y="2834640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4/5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21208" y="3557016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33" name="Shape 30"/>
          <p:cNvSpPr/>
          <p:nvPr/>
        </p:nvSpPr>
        <p:spPr>
          <a:xfrm>
            <a:off x="960120" y="3611880"/>
            <a:ext cx="7589520" cy="694944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60120" y="3611880"/>
            <a:ext cx="73152" cy="694944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5" name="Shape 32"/>
          <p:cNvSpPr/>
          <p:nvPr/>
        </p:nvSpPr>
        <p:spPr>
          <a:xfrm>
            <a:off x="338328" y="3753612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36" name="Shape 33"/>
          <p:cNvSpPr/>
          <p:nvPr/>
        </p:nvSpPr>
        <p:spPr>
          <a:xfrm>
            <a:off x="393192" y="3808476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338328" y="37536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216152" y="3723071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 décentralisée encadrée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1216152" y="3945453"/>
            <a:ext cx="5303520" cy="315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Plage fermée, matériel contrôlé, déclaration obligatoire, droit de suspension.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949440" y="3611880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21208" y="4334256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42" name="Shape 39"/>
          <p:cNvSpPr/>
          <p:nvPr/>
        </p:nvSpPr>
        <p:spPr>
          <a:xfrm>
            <a:off x="960120" y="4389120"/>
            <a:ext cx="7589520" cy="694944"/>
          </a:xfrm>
          <a:prstGeom prst="roundRect">
            <a:avLst>
              <a:gd name="adj" fmla="val 5921"/>
            </a:avLst>
          </a:prstGeom>
          <a:solidFill>
            <a:srgbClr val="F3FBF6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60120" y="4389120"/>
            <a:ext cx="73152" cy="694944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44" name="Shape 41"/>
          <p:cNvSpPr/>
          <p:nvPr/>
        </p:nvSpPr>
        <p:spPr>
          <a:xfrm>
            <a:off x="338328" y="4530852"/>
            <a:ext cx="411480" cy="411480"/>
          </a:xfrm>
          <a:prstGeom prst="ellipse">
            <a:avLst/>
          </a:prstGeom>
          <a:solidFill>
            <a:srgbClr val="0B6B3A"/>
          </a:solidFill>
          <a:ln/>
        </p:spPr>
      </p:sp>
      <p:sp>
        <p:nvSpPr>
          <p:cNvPr id="45" name="Shape 42"/>
          <p:cNvSpPr/>
          <p:nvPr/>
        </p:nvSpPr>
        <p:spPr>
          <a:xfrm>
            <a:off x="393192" y="4585716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338328" y="45308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216152" y="4500311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Textes du gabarit sous contrôle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1216152" y="4722693"/>
            <a:ext cx="5303520" cy="315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le texte est modifiable, jamais la sécurité — circuit à deux comptes distincts.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6949440" y="4389120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Admin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1" name="Text 4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/ 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PRODUITS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disponibles pour validation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1280160"/>
            <a:ext cx="4160520" cy="822960"/>
          </a:xfrm>
          <a:prstGeom prst="roundRect">
            <a:avLst>
              <a:gd name="adj" fmla="val 5556"/>
            </a:avLst>
          </a:prstGeom>
          <a:solidFill>
            <a:srgbClr val="F3FBF6"/>
          </a:solidFill>
          <a:ln w="9525">
            <a:solidFill>
              <a:srgbClr val="E8E4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" y="1353312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Passeport_Betail_A5_4pages.docx / _FR_AR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9768" y="1719072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du PPB, 2 versions linguistiques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2176272"/>
            <a:ext cx="4160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2249424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Schema_Delivrance_PPB.docx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29768" y="2615184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phases, impression décentralisée, synchronisation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" y="3072384"/>
            <a:ext cx="4160520" cy="822960"/>
          </a:xfrm>
          <a:prstGeom prst="roundRect">
            <a:avLst>
              <a:gd name="adj" fmla="val 5556"/>
            </a:avLst>
          </a:prstGeom>
          <a:solidFill>
            <a:srgbClr val="F3FBF6"/>
          </a:solidFill>
          <a:ln w="9525">
            <a:solidFill>
              <a:srgbClr val="E8E4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" y="3145536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Document_Conception_PPB.docx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29768" y="3511296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diagrammes UML, du cas d’usage au déploiement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" y="3968496"/>
            <a:ext cx="4160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" y="4041648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Document_Technique_Implementation_PPB.docx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9768" y="4407408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Spécifications par module, endpoints API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1280160"/>
            <a:ext cx="4160520" cy="822960"/>
          </a:xfrm>
          <a:prstGeom prst="roundRect">
            <a:avLst>
              <a:gd name="adj" fmla="val 5556"/>
            </a:avLst>
          </a:prstGeom>
          <a:solidFill>
            <a:srgbClr val="F3FBF6"/>
          </a:solidFill>
          <a:ln w="9525">
            <a:solidFill>
              <a:srgbClr val="E8E4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1353312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Document_Architecture_Technique_PPB.docx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64608" y="1719072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Couches, choix technologiques, qualités transverses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54880" y="2176272"/>
            <a:ext cx="4160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64608" y="2249424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Guide_Developpement_Iteratif_Hebergement_PPB.docx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64608" y="2615184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Ordre de conception, hébergement OVHcloud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54880" y="3072384"/>
            <a:ext cx="4160520" cy="822960"/>
          </a:xfrm>
          <a:prstGeom prst="roundRect">
            <a:avLst>
              <a:gd name="adj" fmla="val 5556"/>
            </a:avLst>
          </a:prstGeom>
          <a:solidFill>
            <a:srgbClr val="F3FBF6"/>
          </a:solidFill>
          <a:ln w="9525">
            <a:solidFill>
              <a:srgbClr val="E8E4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3145536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Prerequis_Paiement_En_Ligne_PPB.docx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64608" y="3511296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CinetPay, zone CEMAC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3968496"/>
            <a:ext cx="4160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64608" y="4041648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PPB_Prototype.jsx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864608" y="4407408"/>
            <a:ext cx="3941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visuel interactif, tous scénarios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DEMANDÉE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J15 — Ce qui reste, et la suite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1280160"/>
            <a:ext cx="8503920" cy="1005840"/>
          </a:xfrm>
          <a:prstGeom prst="roundRect">
            <a:avLst>
              <a:gd name="adj" fmla="val 5455"/>
            </a:avLst>
          </a:prstGeom>
          <a:solidFill>
            <a:srgbClr val="FDF6DC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de validation formelle (PV — J15)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CEBEVIRHA est invitée à valider par écrit les maquettes du PPB, l'architecture technique et le schéma de délivrance présentés dans ce dossier, afin de clore officiellement la Phase 2 et d'autoriser le démarrage de la Phase 3.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040" y="25146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Développement et intégration (J16 → J40)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0120" y="2880360"/>
            <a:ext cx="7589520" cy="457200"/>
          </a:xfrm>
          <a:prstGeom prst="roundRect">
            <a:avLst>
              <a:gd name="adj" fmla="val 9000"/>
            </a:avLst>
          </a:prstGeom>
          <a:solidFill>
            <a:srgbClr val="F3FBF6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2880360"/>
            <a:ext cx="73152" cy="457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Shape 9"/>
          <p:cNvSpPr/>
          <p:nvPr/>
        </p:nvSpPr>
        <p:spPr>
          <a:xfrm>
            <a:off x="338328" y="2903220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3" name="Shape 10"/>
          <p:cNvSpPr/>
          <p:nvPr/>
        </p:nvSpPr>
        <p:spPr>
          <a:xfrm>
            <a:off x="393192" y="2958084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" y="29032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16152" y="2953512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J16-J22 — Backend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216152" y="3099816"/>
            <a:ext cx="676656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FastAPI, PostgreSQL, Auth JWT+RBAC, QR signé, impression décentralisée.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1208" y="3337560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392424"/>
            <a:ext cx="75895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60120" y="3392424"/>
            <a:ext cx="73152" cy="457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0" name="Shape 17"/>
          <p:cNvSpPr/>
          <p:nvPr/>
        </p:nvSpPr>
        <p:spPr>
          <a:xfrm>
            <a:off x="338328" y="3415284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1" name="Shape 18"/>
          <p:cNvSpPr/>
          <p:nvPr/>
        </p:nvSpPr>
        <p:spPr>
          <a:xfrm>
            <a:off x="393192" y="3470148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338328" y="34152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16152" y="3465576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J23-J30 — Frontend Web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216152" y="3611880"/>
            <a:ext cx="676656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admin, module émission, tableau de bord, cartographie.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21208" y="3849624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26" name="Shape 23"/>
          <p:cNvSpPr/>
          <p:nvPr/>
        </p:nvSpPr>
        <p:spPr>
          <a:xfrm>
            <a:off x="960120" y="3904488"/>
            <a:ext cx="7589520" cy="457200"/>
          </a:xfrm>
          <a:prstGeom prst="roundRect">
            <a:avLst>
              <a:gd name="adj" fmla="val 9000"/>
            </a:avLst>
          </a:prstGeom>
          <a:solidFill>
            <a:srgbClr val="F3FBF6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60120" y="3904488"/>
            <a:ext cx="73152" cy="457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8" name="Shape 25"/>
          <p:cNvSpPr/>
          <p:nvPr/>
        </p:nvSpPr>
        <p:spPr>
          <a:xfrm>
            <a:off x="338328" y="392734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9" name="Shape 26"/>
          <p:cNvSpPr/>
          <p:nvPr/>
        </p:nvSpPr>
        <p:spPr>
          <a:xfrm>
            <a:off x="393192" y="3982212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338328" y="39273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216152" y="39776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J31-J36 — Application mobile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216152" y="4123944"/>
            <a:ext cx="676656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contrôle, scanner QR, vérification online/offline, sync.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21208" y="4361688"/>
            <a:ext cx="45720" cy="54864"/>
          </a:xfrm>
          <a:prstGeom prst="rect">
            <a:avLst/>
          </a:prstGeom>
          <a:solidFill>
            <a:srgbClr val="E6F6EC"/>
          </a:solidFill>
          <a:ln/>
        </p:spPr>
      </p:sp>
      <p:sp>
        <p:nvSpPr>
          <p:cNvPr id="34" name="Shape 31"/>
          <p:cNvSpPr/>
          <p:nvPr/>
        </p:nvSpPr>
        <p:spPr>
          <a:xfrm>
            <a:off x="960120" y="4416552"/>
            <a:ext cx="7589520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60120" y="4416552"/>
            <a:ext cx="73152" cy="457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6" name="Shape 33"/>
          <p:cNvSpPr/>
          <p:nvPr/>
        </p:nvSpPr>
        <p:spPr>
          <a:xfrm>
            <a:off x="338328" y="4439412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7" name="Shape 34"/>
          <p:cNvSpPr/>
          <p:nvPr/>
        </p:nvSpPr>
        <p:spPr>
          <a:xfrm>
            <a:off x="393192" y="4494276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338328" y="44394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216152" y="448970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J37-J40 — Statistiques et tests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1216152" y="4636008"/>
            <a:ext cx="6766560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analytiques, tests end-to-end, performance, sécurité.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2" name="Text 39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3657600" cy="3657600"/>
          </a:xfrm>
          <a:prstGeom prst="ellipse">
            <a:avLst/>
          </a:prstGeom>
          <a:solidFill>
            <a:srgbClr val="159A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3291840"/>
            <a:ext cx="3200400" cy="3200400"/>
          </a:xfrm>
          <a:prstGeom prst="ellipse">
            <a:avLst/>
          </a:prstGeom>
          <a:solidFill>
            <a:srgbClr val="159A4A">
              <a:alpha val="45000"/>
            </a:srgbClr>
          </a:solidFill>
          <a:ln/>
        </p:spPr>
      </p:sp>
      <p:pic>
        <p:nvPicPr>
          <p:cNvPr id="4" name="Image 0" descr="/home/claude/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685800"/>
            <a:ext cx="292608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contenu complet,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formelle attendue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0" y="2971800"/>
            <a:ext cx="914400" cy="0"/>
          </a:xfrm>
          <a:prstGeom prst="line">
            <a:avLst/>
          </a:prstGeom>
          <a:noFill/>
          <a:ln w="25400">
            <a:solidFill>
              <a:srgbClr val="0B6B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3200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Maquettes, architecture et système de contrôle sont prêts. Un PV de validation CEBEVIRHA ouvrira la voie à la Phase 3 — Développement.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CEBEVIRHA — Commission Économique du Bétail, de la Viande et des Ressources Halieutiques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2026-08-13T19:47:57Z</dcterms:created>
  <dcterms:modified xsi:type="dcterms:W3CDTF">2026-08-13T19:47:57Z</dcterms:modified>
</cp:coreProperties>
</file>