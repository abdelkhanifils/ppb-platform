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B6B3A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097280"/>
            <a:ext cx="3657600" cy="3657600"/>
          </a:xfrm>
          <a:prstGeom prst="ellipse">
            <a:avLst/>
          </a:prstGeom>
          <a:solidFill>
            <a:srgbClr val="159A4A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645920" y="3291840"/>
            <a:ext cx="3200400" cy="3200400"/>
          </a:xfrm>
          <a:prstGeom prst="ellipse">
            <a:avLst/>
          </a:prstGeom>
          <a:solidFill>
            <a:srgbClr val="159A4A">
              <a:alpha val="45000"/>
            </a:srgbClr>
          </a:solidFill>
          <a:ln/>
        </p:spPr>
      </p:sp>
      <p:pic>
        <p:nvPicPr>
          <p:cNvPr id="5" name="Image 0" descr="/home/claude/assets/logo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11480"/>
            <a:ext cx="2377440" cy="6062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554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DE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365760" y="19842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365760" y="241401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DIAGRAMMES UML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65760" y="3200400"/>
            <a:ext cx="3108960" cy="365760"/>
          </a:xfrm>
          <a:prstGeom prst="rect">
            <a:avLst/>
          </a:prstGeom>
          <a:solidFill>
            <a:srgbClr val="C5E8CF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32004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d’utilisation au déploiement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206240" y="10515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AMI/CEBEVIRHA/FLUVIAC/PPB/2026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206240" y="1463040"/>
            <a:ext cx="4480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 détaillée de la plateforme numérique du PPB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4206240" y="2926080"/>
            <a:ext cx="4389120" cy="438912"/>
          </a:xfrm>
          <a:prstGeom prst="roundRect">
            <a:avLst>
              <a:gd name="adj" fmla="val 12500"/>
            </a:avLst>
          </a:prstGeom>
          <a:solidFill>
            <a:srgbClr val="E6F6EC"/>
          </a:solidFill>
          <a:ln/>
        </p:spPr>
      </p:sp>
      <p:sp>
        <p:nvSpPr>
          <p:cNvPr id="14" name="Text 11"/>
          <p:cNvSpPr/>
          <p:nvPr/>
        </p:nvSpPr>
        <p:spPr>
          <a:xfrm>
            <a:off x="4206240" y="292608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Diagrammes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486400" y="2926080"/>
            <a:ext cx="2971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diagrammes UML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206240" y="3429000"/>
            <a:ext cx="4389120" cy="438912"/>
          </a:xfrm>
          <a:prstGeom prst="roundRect">
            <a:avLst>
              <a:gd name="adj" fmla="val 12500"/>
            </a:avLst>
          </a:prstGeom>
          <a:solidFill>
            <a:srgbClr val="E6F6EC"/>
          </a:solidFill>
          <a:ln/>
        </p:spPr>
      </p:sp>
      <p:sp>
        <p:nvSpPr>
          <p:cNvPr id="17" name="Text 14"/>
          <p:cNvSpPr/>
          <p:nvPr/>
        </p:nvSpPr>
        <p:spPr>
          <a:xfrm>
            <a:off x="4206240" y="342900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Paiement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86400" y="3429000"/>
            <a:ext cx="2971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CinetPay — zone CEMAC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5C51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8872"/>
            <a:ext cx="150876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37760" y="15544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SOMMAIRE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320040" y="603504"/>
            <a:ext cx="8503920" cy="0"/>
          </a:xfrm>
          <a:prstGeom prst="line">
            <a:avLst/>
          </a:prstGeom>
          <a:noFill/>
          <a:ln w="12700">
            <a:solidFill>
              <a:srgbClr val="E8E4D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20040" y="786384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de la présentation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320040" y="1325880"/>
            <a:ext cx="1298448" cy="777240"/>
          </a:xfrm>
          <a:prstGeom prst="roundRect">
            <a:avLst>
              <a:gd name="adj" fmla="val 7059"/>
            </a:avLst>
          </a:prstGeom>
          <a:solidFill>
            <a:srgbClr val="0B6B3A"/>
          </a:solidFill>
          <a:ln/>
        </p:spPr>
      </p:sp>
      <p:sp>
        <p:nvSpPr>
          <p:cNvPr id="7" name="Text 4"/>
          <p:cNvSpPr/>
          <p:nvPr/>
        </p:nvSpPr>
        <p:spPr>
          <a:xfrm>
            <a:off x="320040" y="1417320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20040" y="1691640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d’usage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627632" y="1705356"/>
            <a:ext cx="73152" cy="18288"/>
          </a:xfrm>
          <a:prstGeom prst="rect">
            <a:avLst/>
          </a:prstGeom>
          <a:solidFill>
            <a:srgbClr val="E8E4DA"/>
          </a:solidFill>
          <a:ln/>
        </p:spPr>
      </p:sp>
      <p:sp>
        <p:nvSpPr>
          <p:cNvPr id="10" name="Shape 7"/>
          <p:cNvSpPr/>
          <p:nvPr/>
        </p:nvSpPr>
        <p:spPr>
          <a:xfrm>
            <a:off x="1709928" y="1325880"/>
            <a:ext cx="1298448" cy="777240"/>
          </a:xfrm>
          <a:prstGeom prst="roundRect">
            <a:avLst>
              <a:gd name="adj" fmla="val 7059"/>
            </a:avLst>
          </a:prstGeom>
          <a:solidFill>
            <a:srgbClr val="1E3A6E"/>
          </a:solidFill>
          <a:ln/>
        </p:spPr>
      </p:sp>
      <p:sp>
        <p:nvSpPr>
          <p:cNvPr id="11" name="Text 8"/>
          <p:cNvSpPr/>
          <p:nvPr/>
        </p:nvSpPr>
        <p:spPr>
          <a:xfrm>
            <a:off x="1709928" y="1417320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709928" y="1691640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017520" y="1705356"/>
            <a:ext cx="73152" cy="18288"/>
          </a:xfrm>
          <a:prstGeom prst="rect">
            <a:avLst/>
          </a:prstGeom>
          <a:solidFill>
            <a:srgbClr val="E8E4DA"/>
          </a:solidFill>
          <a:ln/>
        </p:spPr>
      </p:sp>
      <p:sp>
        <p:nvSpPr>
          <p:cNvPr id="14" name="Shape 11"/>
          <p:cNvSpPr/>
          <p:nvPr/>
        </p:nvSpPr>
        <p:spPr>
          <a:xfrm>
            <a:off x="3099816" y="1325880"/>
            <a:ext cx="1298448" cy="777240"/>
          </a:xfrm>
          <a:prstGeom prst="roundRect">
            <a:avLst>
              <a:gd name="adj" fmla="val 7059"/>
            </a:avLst>
          </a:prstGeom>
          <a:solidFill>
            <a:srgbClr val="0B6B3A"/>
          </a:solidFill>
          <a:ln/>
        </p:spPr>
      </p:sp>
      <p:sp>
        <p:nvSpPr>
          <p:cNvPr id="15" name="Text 12"/>
          <p:cNvSpPr/>
          <p:nvPr/>
        </p:nvSpPr>
        <p:spPr>
          <a:xfrm>
            <a:off x="3099816" y="1417320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099816" y="1691640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Séquences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407408" y="1705356"/>
            <a:ext cx="73152" cy="18288"/>
          </a:xfrm>
          <a:prstGeom prst="rect">
            <a:avLst/>
          </a:prstGeom>
          <a:solidFill>
            <a:srgbClr val="E8E4DA"/>
          </a:solidFill>
          <a:ln/>
        </p:spPr>
      </p:sp>
      <p:sp>
        <p:nvSpPr>
          <p:cNvPr id="18" name="Shape 15"/>
          <p:cNvSpPr/>
          <p:nvPr/>
        </p:nvSpPr>
        <p:spPr>
          <a:xfrm>
            <a:off x="4489704" y="1325880"/>
            <a:ext cx="1298448" cy="777240"/>
          </a:xfrm>
          <a:prstGeom prst="roundRect">
            <a:avLst>
              <a:gd name="adj" fmla="val 7059"/>
            </a:avLst>
          </a:prstGeom>
          <a:solidFill>
            <a:srgbClr val="1E3A6E"/>
          </a:solidFill>
          <a:ln/>
        </p:spPr>
      </p:sp>
      <p:sp>
        <p:nvSpPr>
          <p:cNvPr id="19" name="Text 16"/>
          <p:cNvSpPr/>
          <p:nvPr/>
        </p:nvSpPr>
        <p:spPr>
          <a:xfrm>
            <a:off x="4489704" y="1417320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489704" y="1691640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États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797296" y="1705356"/>
            <a:ext cx="73152" cy="18288"/>
          </a:xfrm>
          <a:prstGeom prst="rect">
            <a:avLst/>
          </a:prstGeom>
          <a:solidFill>
            <a:srgbClr val="E8E4DA"/>
          </a:solidFill>
          <a:ln/>
        </p:spPr>
      </p:sp>
      <p:sp>
        <p:nvSpPr>
          <p:cNvPr id="22" name="Shape 19"/>
          <p:cNvSpPr/>
          <p:nvPr/>
        </p:nvSpPr>
        <p:spPr>
          <a:xfrm>
            <a:off x="5879592" y="1325880"/>
            <a:ext cx="1298448" cy="777240"/>
          </a:xfrm>
          <a:prstGeom prst="roundRect">
            <a:avLst>
              <a:gd name="adj" fmla="val 7059"/>
            </a:avLst>
          </a:prstGeom>
          <a:solidFill>
            <a:srgbClr val="0B6B3A"/>
          </a:solidFill>
          <a:ln/>
        </p:spPr>
      </p:sp>
      <p:sp>
        <p:nvSpPr>
          <p:cNvPr id="23" name="Text 20"/>
          <p:cNvSpPr/>
          <p:nvPr/>
        </p:nvSpPr>
        <p:spPr>
          <a:xfrm>
            <a:off x="5879592" y="1417320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879592" y="1691640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Composants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187184" y="1705356"/>
            <a:ext cx="73152" cy="18288"/>
          </a:xfrm>
          <a:prstGeom prst="rect">
            <a:avLst/>
          </a:prstGeom>
          <a:solidFill>
            <a:srgbClr val="E8E4DA"/>
          </a:solidFill>
          <a:ln/>
        </p:spPr>
      </p:sp>
      <p:sp>
        <p:nvSpPr>
          <p:cNvPr id="26" name="Shape 23"/>
          <p:cNvSpPr/>
          <p:nvPr/>
        </p:nvSpPr>
        <p:spPr>
          <a:xfrm>
            <a:off x="7269480" y="1325880"/>
            <a:ext cx="1298448" cy="777240"/>
          </a:xfrm>
          <a:prstGeom prst="roundRect">
            <a:avLst>
              <a:gd name="adj" fmla="val 7059"/>
            </a:avLst>
          </a:prstGeom>
          <a:solidFill>
            <a:srgbClr val="1E3A6E"/>
          </a:solidFill>
          <a:ln/>
        </p:spPr>
      </p:sp>
      <p:sp>
        <p:nvSpPr>
          <p:cNvPr id="27" name="Text 24"/>
          <p:cNvSpPr/>
          <p:nvPr/>
        </p:nvSpPr>
        <p:spPr>
          <a:xfrm>
            <a:off x="7269480" y="1417320"/>
            <a:ext cx="1298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269480" y="1691640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320040" y="2386584"/>
            <a:ext cx="384048" cy="384048"/>
          </a:xfrm>
          <a:prstGeom prst="ellipse">
            <a:avLst/>
          </a:prstGeom>
          <a:solidFill>
            <a:srgbClr val="E6F6EC"/>
          </a:solidFill>
          <a:ln/>
        </p:spPr>
      </p:sp>
      <p:sp>
        <p:nvSpPr>
          <p:cNvPr id="30" name="Text 27"/>
          <p:cNvSpPr/>
          <p:nvPr/>
        </p:nvSpPr>
        <p:spPr>
          <a:xfrm>
            <a:off x="320040" y="23865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22960" y="23317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d’utilisation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22960" y="258775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acteurs, 11 fonctionnalités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320040" y="2953512"/>
            <a:ext cx="384048" cy="384048"/>
          </a:xfrm>
          <a:prstGeom prst="ellipse">
            <a:avLst/>
          </a:prstGeom>
          <a:solidFill>
            <a:srgbClr val="E6F6EC"/>
          </a:solidFill>
          <a:ln/>
        </p:spPr>
      </p:sp>
      <p:sp>
        <p:nvSpPr>
          <p:cNvPr id="34" name="Text 31"/>
          <p:cNvSpPr/>
          <p:nvPr/>
        </p:nvSpPr>
        <p:spPr>
          <a:xfrm>
            <a:off x="320040" y="2953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822960" y="28986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Diagramme de classes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822960" y="315468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Entités et relations, y compris admin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320040" y="3520440"/>
            <a:ext cx="384048" cy="384048"/>
          </a:xfrm>
          <a:prstGeom prst="ellipse">
            <a:avLst/>
          </a:prstGeom>
          <a:solidFill>
            <a:srgbClr val="E6F6EC"/>
          </a:solidFill>
          <a:ln/>
        </p:spPr>
      </p:sp>
      <p:sp>
        <p:nvSpPr>
          <p:cNvPr id="38" name="Text 35"/>
          <p:cNvSpPr/>
          <p:nvPr/>
        </p:nvSpPr>
        <p:spPr>
          <a:xfrm>
            <a:off x="320040" y="3520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822960" y="346557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Séquence — Commande/Paiement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822960" y="372160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ligne auto, présentiel validé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320040" y="4087368"/>
            <a:ext cx="384048" cy="384048"/>
          </a:xfrm>
          <a:prstGeom prst="ellipse">
            <a:avLst/>
          </a:prstGeom>
          <a:solidFill>
            <a:srgbClr val="E6F6EC"/>
          </a:solidFill>
          <a:ln/>
        </p:spPr>
      </p:sp>
      <p:sp>
        <p:nvSpPr>
          <p:cNvPr id="42" name="Text 39"/>
          <p:cNvSpPr/>
          <p:nvPr/>
        </p:nvSpPr>
        <p:spPr>
          <a:xfrm>
            <a:off x="320040" y="4087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822960" y="40325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Séquence — Émission terrain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822960" y="428853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Vérification page par page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4754880" y="2386584"/>
            <a:ext cx="384048" cy="384048"/>
          </a:xfrm>
          <a:prstGeom prst="ellipse">
            <a:avLst/>
          </a:prstGeom>
          <a:solidFill>
            <a:srgbClr val="E6F6EC"/>
          </a:solidFill>
          <a:ln/>
        </p:spPr>
      </p:sp>
      <p:sp>
        <p:nvSpPr>
          <p:cNvPr id="46" name="Text 43"/>
          <p:cNvSpPr/>
          <p:nvPr/>
        </p:nvSpPr>
        <p:spPr>
          <a:xfrm>
            <a:off x="4754880" y="23865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5257800" y="23317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Séquence — Synchronisation</a:t>
            </a:r>
            <a:endParaRPr lang="en-US" sz="1200" dirty="0"/>
          </a:p>
        </p:txBody>
      </p:sp>
      <p:sp>
        <p:nvSpPr>
          <p:cNvPr id="48" name="Text 45"/>
          <p:cNvSpPr/>
          <p:nvPr/>
        </p:nvSpPr>
        <p:spPr>
          <a:xfrm>
            <a:off x="5257800" y="258775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+ pull automatique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4754880" y="2953512"/>
            <a:ext cx="384048" cy="384048"/>
          </a:xfrm>
          <a:prstGeom prst="ellipse">
            <a:avLst/>
          </a:prstGeom>
          <a:solidFill>
            <a:srgbClr val="E6F6EC"/>
          </a:solidFill>
          <a:ln/>
        </p:spPr>
      </p:sp>
      <p:sp>
        <p:nvSpPr>
          <p:cNvPr id="50" name="Text 47"/>
          <p:cNvSpPr/>
          <p:nvPr/>
        </p:nvSpPr>
        <p:spPr>
          <a:xfrm>
            <a:off x="4754880" y="29535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5257800" y="28986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Séquence — Contrôle frontière</a:t>
            </a:r>
            <a:endParaRPr lang="en-US" sz="1200" dirty="0"/>
          </a:p>
        </p:txBody>
      </p:sp>
      <p:sp>
        <p:nvSpPr>
          <p:cNvPr id="52" name="Text 49"/>
          <p:cNvSpPr/>
          <p:nvPr/>
        </p:nvSpPr>
        <p:spPr>
          <a:xfrm>
            <a:off x="5257800" y="315468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ligne / hors-ligne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4754880" y="3520440"/>
            <a:ext cx="384048" cy="384048"/>
          </a:xfrm>
          <a:prstGeom prst="ellipse">
            <a:avLst/>
          </a:prstGeom>
          <a:solidFill>
            <a:srgbClr val="E6F6EC"/>
          </a:solidFill>
          <a:ln/>
        </p:spPr>
      </p:sp>
      <p:sp>
        <p:nvSpPr>
          <p:cNvPr id="54" name="Text 51"/>
          <p:cNvSpPr/>
          <p:nvPr/>
        </p:nvSpPr>
        <p:spPr>
          <a:xfrm>
            <a:off x="4754880" y="3520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5257800" y="346557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États · Composants · Déploiement</a:t>
            </a:r>
            <a:endParaRPr lang="en-US" sz="1200" dirty="0"/>
          </a:p>
        </p:txBody>
      </p:sp>
      <p:sp>
        <p:nvSpPr>
          <p:cNvPr id="56" name="Text 53"/>
          <p:cNvSpPr/>
          <p:nvPr/>
        </p:nvSpPr>
        <p:spPr>
          <a:xfrm>
            <a:off x="5257800" y="372160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de vie, architecture, infra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4754880" y="4087368"/>
            <a:ext cx="384048" cy="384048"/>
          </a:xfrm>
          <a:prstGeom prst="ellipse">
            <a:avLst/>
          </a:prstGeom>
          <a:solidFill>
            <a:srgbClr val="E6F6EC"/>
          </a:solidFill>
          <a:ln/>
        </p:spPr>
      </p:sp>
      <p:sp>
        <p:nvSpPr>
          <p:cNvPr id="58" name="Text 55"/>
          <p:cNvSpPr/>
          <p:nvPr/>
        </p:nvSpPr>
        <p:spPr>
          <a:xfrm>
            <a:off x="4754880" y="4087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5257800" y="40325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Paiement en ligne CEMAC</a:t>
            </a:r>
            <a:endParaRPr lang="en-US" sz="1200" dirty="0"/>
          </a:p>
        </p:txBody>
      </p:sp>
      <p:sp>
        <p:nvSpPr>
          <p:cNvPr id="60" name="Text 57"/>
          <p:cNvSpPr/>
          <p:nvPr/>
        </p:nvSpPr>
        <p:spPr>
          <a:xfrm>
            <a:off x="5257800" y="428853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Choix CinetPay argumenté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62" name="Text 59"/>
          <p:cNvSpPr/>
          <p:nvPr/>
        </p:nvSpPr>
        <p:spPr>
          <a:xfrm>
            <a:off x="7772400" y="48280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/ 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8872"/>
            <a:ext cx="150876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37760" y="15544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D’UTILISATION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320040" y="603504"/>
            <a:ext cx="8503920" cy="0"/>
          </a:xfrm>
          <a:prstGeom prst="line">
            <a:avLst/>
          </a:prstGeom>
          <a:noFill/>
          <a:ln w="12700">
            <a:solidFill>
              <a:srgbClr val="E8E4D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20040" y="786384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Acteurs et fonctionnalités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6263640" y="786384"/>
            <a:ext cx="2560320" cy="329184"/>
          </a:xfrm>
          <a:prstGeom prst="roundRect">
            <a:avLst>
              <a:gd name="adj" fmla="val 25000"/>
            </a:avLst>
          </a:prstGeom>
          <a:solidFill>
            <a:srgbClr val="F5C518"/>
          </a:solidFill>
          <a:ln/>
        </p:spPr>
      </p:sp>
      <p:sp>
        <p:nvSpPr>
          <p:cNvPr id="7" name="Text 4"/>
          <p:cNvSpPr/>
          <p:nvPr/>
        </p:nvSpPr>
        <p:spPr>
          <a:xfrm>
            <a:off x="6263640" y="78638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ACTEURS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" y="123444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Neuf acteurs interagissent avec la plateforme, de la commande par le Ministère de l’Élevage au contrôle aux frontières.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936014" y="1636776"/>
            <a:ext cx="1271973" cy="3374136"/>
          </a:xfrm>
          <a:prstGeom prst="roundRect">
            <a:avLst>
              <a:gd name="adj" fmla="val 2157"/>
            </a:avLst>
          </a:prstGeom>
          <a:solidFill>
            <a:srgbClr val="FFFFFF"/>
          </a:solidFill>
          <a:ln w="9525">
            <a:solidFill>
              <a:srgbClr val="E8E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pic>
        <p:nvPicPr>
          <p:cNvPr id="10" name="Image 1" descr="/home/claude/diagrams/01_use_c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0878" y="1691640"/>
            <a:ext cx="1162245" cy="326440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2" name="Text 8"/>
          <p:cNvSpPr/>
          <p:nvPr/>
        </p:nvSpPr>
        <p:spPr>
          <a:xfrm>
            <a:off x="7772400" y="48280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/ 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8872"/>
            <a:ext cx="150876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37760" y="15544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DE DONNÉES 1/3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320040" y="603504"/>
            <a:ext cx="8503920" cy="0"/>
          </a:xfrm>
          <a:prstGeom prst="line">
            <a:avLst/>
          </a:prstGeom>
          <a:noFill/>
          <a:ln w="12700">
            <a:solidFill>
              <a:srgbClr val="E8E4D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20040" y="786384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 — Commande et paiement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6263640" y="786384"/>
            <a:ext cx="2560320" cy="329184"/>
          </a:xfrm>
          <a:prstGeom prst="roundRect">
            <a:avLst>
              <a:gd name="adj" fmla="val 25000"/>
            </a:avLst>
          </a:prstGeom>
          <a:solidFill>
            <a:srgbClr val="F5C518"/>
          </a:solidFill>
          <a:ln/>
        </p:spPr>
      </p:sp>
      <p:sp>
        <p:nvSpPr>
          <p:cNvPr id="7" name="Text 4"/>
          <p:cNvSpPr/>
          <p:nvPr/>
        </p:nvSpPr>
        <p:spPr>
          <a:xfrm>
            <a:off x="6263640" y="78638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ENTITÉS &amp; RELATIONS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" y="123444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commande génère un paiement puis un ou plusieurs passeports ; l’AutorisationImpression encadre l’impression décentralisée par pays.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98073" y="1636776"/>
            <a:ext cx="2147854" cy="3374136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9525">
            <a:solidFill>
              <a:srgbClr val="E8E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pic>
        <p:nvPicPr>
          <p:cNvPr id="10" name="Image 1" descr="/home/claude/diagrams/02a_class_comman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2937" y="1691640"/>
            <a:ext cx="2038126" cy="326440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2" name="Text 8"/>
          <p:cNvSpPr/>
          <p:nvPr/>
        </p:nvSpPr>
        <p:spPr>
          <a:xfrm>
            <a:off x="7772400" y="48280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/ 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8872"/>
            <a:ext cx="150876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37760" y="15544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DE DONNÉES 2/3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320040" y="603504"/>
            <a:ext cx="8503920" cy="0"/>
          </a:xfrm>
          <a:prstGeom prst="line">
            <a:avLst/>
          </a:prstGeom>
          <a:noFill/>
          <a:ln w="12700">
            <a:solidFill>
              <a:srgbClr val="E8E4D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20040" y="786384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 — Terrain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6263640" y="786384"/>
            <a:ext cx="2560320" cy="329184"/>
          </a:xfrm>
          <a:prstGeom prst="roundRect">
            <a:avLst>
              <a:gd name="adj" fmla="val 25000"/>
            </a:avLst>
          </a:prstGeom>
          <a:solidFill>
            <a:srgbClr val="F5C518"/>
          </a:solidFill>
          <a:ln/>
        </p:spPr>
      </p:sp>
      <p:sp>
        <p:nvSpPr>
          <p:cNvPr id="7" name="Text 4"/>
          <p:cNvSpPr/>
          <p:nvPr/>
        </p:nvSpPr>
        <p:spPr>
          <a:xfrm>
            <a:off x="6263640" y="78638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ENTITÉS &amp; RELATIONS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" y="123444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passeport rempli via 4 pages numérisées alimente Éleveur, Convoyeur, Troupeau, Vaccination et Itineraire ; le contrôle vérifie la conformité au trajet.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437872" y="1636776"/>
            <a:ext cx="4268257" cy="3374136"/>
          </a:xfrm>
          <a:prstGeom prst="roundRect">
            <a:avLst>
              <a:gd name="adj" fmla="val 813"/>
            </a:avLst>
          </a:prstGeom>
          <a:solidFill>
            <a:srgbClr val="FFFFFF"/>
          </a:solidFill>
          <a:ln w="9525">
            <a:solidFill>
              <a:srgbClr val="E8E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pic>
        <p:nvPicPr>
          <p:cNvPr id="10" name="Image 1" descr="/home/claude/diagrams/02b_class_ter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736" y="1691640"/>
            <a:ext cx="4158529" cy="326440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2" name="Text 8"/>
          <p:cNvSpPr/>
          <p:nvPr/>
        </p:nvSpPr>
        <p:spPr>
          <a:xfrm>
            <a:off x="7772400" y="48280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/ 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8872"/>
            <a:ext cx="150876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37760" y="15544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DE DONNÉES 3/3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320040" y="603504"/>
            <a:ext cx="8503920" cy="0"/>
          </a:xfrm>
          <a:prstGeom prst="line">
            <a:avLst/>
          </a:prstGeom>
          <a:noFill/>
          <a:ln w="12700">
            <a:solidFill>
              <a:srgbClr val="E8E4D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20040" y="786384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 — Configuration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6263640" y="786384"/>
            <a:ext cx="2560320" cy="329184"/>
          </a:xfrm>
          <a:prstGeom prst="roundRect">
            <a:avLst>
              <a:gd name="adj" fmla="val 25000"/>
            </a:avLst>
          </a:prstGeom>
          <a:solidFill>
            <a:srgbClr val="F5C518"/>
          </a:solidFill>
          <a:ln/>
        </p:spPr>
      </p:sp>
      <p:sp>
        <p:nvSpPr>
          <p:cNvPr id="7" name="Text 4"/>
          <p:cNvSpPr/>
          <p:nvPr/>
        </p:nvSpPr>
        <p:spPr>
          <a:xfrm>
            <a:off x="6263640" y="78638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ENTITÉS &amp; RELATIONS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" y="123444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Formulaires (DefinitionFormulaire/DefinitionChamp), paramètres système (Parametre) et textes du gabarit (TexteGabarit), pilotables par le Super Administrateur.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2457" y="1636776"/>
            <a:ext cx="1839087" cy="3374136"/>
          </a:xfrm>
          <a:prstGeom prst="roundRect">
            <a:avLst>
              <a:gd name="adj" fmla="val 1492"/>
            </a:avLst>
          </a:prstGeom>
          <a:solidFill>
            <a:srgbClr val="FFFFFF"/>
          </a:solidFill>
          <a:ln w="9525">
            <a:solidFill>
              <a:srgbClr val="E8E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pic>
        <p:nvPicPr>
          <p:cNvPr id="10" name="Image 1" descr="/home/claude/diagrams/02c_class_adm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321" y="1691640"/>
            <a:ext cx="1729359" cy="326440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2" name="Text 8"/>
          <p:cNvSpPr/>
          <p:nvPr/>
        </p:nvSpPr>
        <p:spPr>
          <a:xfrm>
            <a:off x="7772400" y="48280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/ 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8872"/>
            <a:ext cx="150876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37760" y="15544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SÉQUENCE 1/4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320040" y="603504"/>
            <a:ext cx="8503920" cy="0"/>
          </a:xfrm>
          <a:prstGeom prst="line">
            <a:avLst/>
          </a:prstGeom>
          <a:noFill/>
          <a:ln w="12700">
            <a:solidFill>
              <a:srgbClr val="E8E4D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20040" y="786384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Commande, paiement, attribution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6263640" y="786384"/>
            <a:ext cx="2560320" cy="329184"/>
          </a:xfrm>
          <a:prstGeom prst="roundRect">
            <a:avLst>
              <a:gd name="adj" fmla="val 25000"/>
            </a:avLst>
          </a:prstGeom>
          <a:solidFill>
            <a:srgbClr val="F5C518"/>
          </a:solidFill>
          <a:ln/>
        </p:spPr>
      </p:sp>
      <p:sp>
        <p:nvSpPr>
          <p:cNvPr id="7" name="Text 4"/>
          <p:cNvSpPr/>
          <p:nvPr/>
        </p:nvSpPr>
        <p:spPr>
          <a:xfrm>
            <a:off x="6263640" y="78638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/ PRÉSENTIEL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" y="1234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paiement en ligne (CinetPay) déclenche l’attribution automatiquement ; le paiement en présentiel ou au-delà du plafond requiert la validation d’un agent CEBEVIRHA.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224442" y="1709928"/>
            <a:ext cx="4695116" cy="3300984"/>
          </a:xfrm>
          <a:prstGeom prst="roundRect">
            <a:avLst>
              <a:gd name="adj" fmla="val 831"/>
            </a:avLst>
          </a:prstGeom>
          <a:solidFill>
            <a:srgbClr val="FFFFFF"/>
          </a:solidFill>
          <a:ln w="9525">
            <a:solidFill>
              <a:srgbClr val="E8E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pic>
        <p:nvPicPr>
          <p:cNvPr id="10" name="Image 1" descr="/home/claude/diagrams/03a_sequence_comman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306" y="1764792"/>
            <a:ext cx="4585388" cy="31912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2" name="Text 8"/>
          <p:cNvSpPr/>
          <p:nvPr/>
        </p:nvSpPr>
        <p:spPr>
          <a:xfrm>
            <a:off x="7772400" y="48280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 / 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8872"/>
            <a:ext cx="150876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37760" y="15544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SÉQUENCE 2/4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320040" y="603504"/>
            <a:ext cx="8503920" cy="0"/>
          </a:xfrm>
          <a:prstGeom prst="line">
            <a:avLst/>
          </a:prstGeom>
          <a:noFill/>
          <a:ln w="12700">
            <a:solidFill>
              <a:srgbClr val="E8E4D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20040" y="786384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Émission terrain — vérification par page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6263640" y="786384"/>
            <a:ext cx="2560320" cy="329184"/>
          </a:xfrm>
          <a:prstGeom prst="roundRect">
            <a:avLst>
              <a:gd name="adj" fmla="val 25000"/>
            </a:avLst>
          </a:prstGeom>
          <a:solidFill>
            <a:srgbClr val="F5C518"/>
          </a:solidFill>
          <a:ln/>
        </p:spPr>
      </p:sp>
      <p:sp>
        <p:nvSpPr>
          <p:cNvPr id="7" name="Text 4"/>
          <p:cNvSpPr/>
          <p:nvPr/>
        </p:nvSpPr>
        <p:spPr>
          <a:xfrm>
            <a:off x="6263640" y="78638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IMAGE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" y="1234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page a un rôle précis : la page 2 sélectionne le passeport via son QR, les pages 3 et 4 créent Éleveur, Convoyeur, Itineraire, Troupeau et Vaccination à partir d’un formulaire relu et validé par l’agent.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476865" y="1709928"/>
            <a:ext cx="4190271" cy="3300984"/>
          </a:xfrm>
          <a:prstGeom prst="roundRect">
            <a:avLst>
              <a:gd name="adj" fmla="val 831"/>
            </a:avLst>
          </a:prstGeom>
          <a:solidFill>
            <a:srgbClr val="FFFFFF"/>
          </a:solidFill>
          <a:ln w="9525">
            <a:solidFill>
              <a:srgbClr val="E8E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pic>
        <p:nvPicPr>
          <p:cNvPr id="10" name="Image 1" descr="/home/claude/diagrams/03b_sequence_emiss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729" y="1764792"/>
            <a:ext cx="4080543" cy="31912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2" name="Text 8"/>
          <p:cNvSpPr/>
          <p:nvPr/>
        </p:nvSpPr>
        <p:spPr>
          <a:xfrm>
            <a:off x="7772400" y="48280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 / 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8872"/>
            <a:ext cx="150876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37760" y="15544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SÉQUENCE 3/4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320040" y="603504"/>
            <a:ext cx="8503920" cy="0"/>
          </a:xfrm>
          <a:prstGeom prst="line">
            <a:avLst/>
          </a:prstGeom>
          <a:noFill/>
          <a:ln w="12700">
            <a:solidFill>
              <a:srgbClr val="E8E4D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20040" y="786384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Synchronisation automatique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6263640" y="786384"/>
            <a:ext cx="2560320" cy="329184"/>
          </a:xfrm>
          <a:prstGeom prst="roundRect">
            <a:avLst>
              <a:gd name="adj" fmla="val 25000"/>
            </a:avLst>
          </a:prstGeom>
          <a:solidFill>
            <a:srgbClr val="F5C518"/>
          </a:solidFill>
          <a:ln/>
        </p:spPr>
      </p:sp>
      <p:sp>
        <p:nvSpPr>
          <p:cNvPr id="7" name="Text 4"/>
          <p:cNvSpPr/>
          <p:nvPr/>
        </p:nvSpPr>
        <p:spPr>
          <a:xfrm>
            <a:off x="6263640" y="78638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+ PULL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" y="1234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synchronisations distinctes et potentiellement décalées : l’identité (dès attribution) et l’itinéraire (dès émission validée), toutes deux récupérées automatiquement par l’application de contrôle.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6632" y="1709928"/>
            <a:ext cx="8130736" cy="3300984"/>
          </a:xfrm>
          <a:prstGeom prst="roundRect">
            <a:avLst>
              <a:gd name="adj" fmla="val 831"/>
            </a:avLst>
          </a:prstGeom>
          <a:solidFill>
            <a:srgbClr val="FFFFFF"/>
          </a:solidFill>
          <a:ln w="9525">
            <a:solidFill>
              <a:srgbClr val="E8E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pic>
        <p:nvPicPr>
          <p:cNvPr id="10" name="Image 1" descr="/home/claude/diagrams/03c_sequence_syn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96" y="1764792"/>
            <a:ext cx="8021008" cy="31912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2" name="Text 8"/>
          <p:cNvSpPr/>
          <p:nvPr/>
        </p:nvSpPr>
        <p:spPr>
          <a:xfrm>
            <a:off x="7772400" y="48280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 / 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8872"/>
            <a:ext cx="150876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37760" y="15544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SÉQUENCE 4/4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320040" y="603504"/>
            <a:ext cx="8503920" cy="0"/>
          </a:xfrm>
          <a:prstGeom prst="line">
            <a:avLst/>
          </a:prstGeom>
          <a:noFill/>
          <a:ln w="12700">
            <a:solidFill>
              <a:srgbClr val="E8E4D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20040" y="786384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aux frontières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6263640" y="786384"/>
            <a:ext cx="2560320" cy="329184"/>
          </a:xfrm>
          <a:prstGeom prst="roundRect">
            <a:avLst>
              <a:gd name="adj" fmla="val 25000"/>
            </a:avLst>
          </a:prstGeom>
          <a:solidFill>
            <a:srgbClr val="F5C518"/>
          </a:solidFill>
          <a:ln/>
        </p:spPr>
      </p:sp>
      <p:sp>
        <p:nvSpPr>
          <p:cNvPr id="7" name="Text 4"/>
          <p:cNvSpPr/>
          <p:nvPr/>
        </p:nvSpPr>
        <p:spPr>
          <a:xfrm>
            <a:off x="6263640" y="78638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LIGNE / HORS-LIGNE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" y="12344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Vérification de l’authenticité en ligne ou hors-ligne (60 jours), puis de la conformité à l’itinéraire si déjà synchronisée — sinon repli sur le document papier.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294921" y="1709928"/>
            <a:ext cx="4554158" cy="3300984"/>
          </a:xfrm>
          <a:prstGeom prst="roundRect">
            <a:avLst>
              <a:gd name="adj" fmla="val 831"/>
            </a:avLst>
          </a:prstGeom>
          <a:solidFill>
            <a:srgbClr val="FFFFFF"/>
          </a:solidFill>
          <a:ln w="9525">
            <a:solidFill>
              <a:srgbClr val="E8E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pic>
        <p:nvPicPr>
          <p:cNvPr id="10" name="Image 1" descr="/home/claude/diagrams/03d_sequence_contro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785" y="1764792"/>
            <a:ext cx="4444430" cy="31912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2" name="Text 8"/>
          <p:cNvSpPr/>
          <p:nvPr/>
        </p:nvSpPr>
        <p:spPr>
          <a:xfrm>
            <a:off x="7772400" y="48280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/ 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8872"/>
            <a:ext cx="150876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37760" y="15544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ÉTATS-TRANSITIONS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320040" y="603504"/>
            <a:ext cx="8503920" cy="0"/>
          </a:xfrm>
          <a:prstGeom prst="line">
            <a:avLst/>
          </a:prstGeom>
          <a:noFill/>
          <a:ln w="12700">
            <a:solidFill>
              <a:srgbClr val="E8E4D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20040" y="786384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de vie du passeport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6263640" y="786384"/>
            <a:ext cx="2560320" cy="329184"/>
          </a:xfrm>
          <a:prstGeom prst="roundRect">
            <a:avLst>
              <a:gd name="adj" fmla="val 25000"/>
            </a:avLst>
          </a:prstGeom>
          <a:solidFill>
            <a:srgbClr val="F5C518"/>
          </a:solidFill>
          <a:ln/>
        </p:spPr>
      </p:sp>
      <p:sp>
        <p:nvSpPr>
          <p:cNvPr id="7" name="Text 4"/>
          <p:cNvSpPr/>
          <p:nvPr/>
        </p:nvSpPr>
        <p:spPr>
          <a:xfrm>
            <a:off x="6263640" y="78638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ÉTATS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" y="123444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Préchargé → Vierge → Émis → Contrôlé, chaque transition déclenchée par une phase précise du schéma de délivrance.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718306" y="1636776"/>
            <a:ext cx="1707388" cy="3374136"/>
          </a:xfrm>
          <a:prstGeom prst="roundRect">
            <a:avLst>
              <a:gd name="adj" fmla="val 1607"/>
            </a:avLst>
          </a:prstGeom>
          <a:solidFill>
            <a:srgbClr val="FFFFFF"/>
          </a:solidFill>
          <a:ln w="9525">
            <a:solidFill>
              <a:srgbClr val="E8E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pic>
        <p:nvPicPr>
          <p:cNvPr id="10" name="Image 1" descr="/home/claude/diagrams/04_st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3170" y="1691640"/>
            <a:ext cx="1597660" cy="326440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2" name="Text 8"/>
          <p:cNvSpPr/>
          <p:nvPr/>
        </p:nvSpPr>
        <p:spPr>
          <a:xfrm>
            <a:off x="7772400" y="48280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/ 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8872"/>
            <a:ext cx="150876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37760" y="15544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COMPOSANTS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320040" y="603504"/>
            <a:ext cx="8503920" cy="0"/>
          </a:xfrm>
          <a:prstGeom prst="line">
            <a:avLst/>
          </a:prstGeom>
          <a:noFill/>
          <a:ln w="12700">
            <a:solidFill>
              <a:srgbClr val="E8E4D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20040" y="786384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 logicielle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6263640" y="786384"/>
            <a:ext cx="2560320" cy="329184"/>
          </a:xfrm>
          <a:prstGeom prst="roundRect">
            <a:avLst>
              <a:gd name="adj" fmla="val 25000"/>
            </a:avLst>
          </a:prstGeom>
          <a:solidFill>
            <a:srgbClr val="F5C518"/>
          </a:solidFill>
          <a:ln/>
        </p:spPr>
      </p:sp>
      <p:sp>
        <p:nvSpPr>
          <p:cNvPr id="7" name="Text 4"/>
          <p:cNvSpPr/>
          <p:nvPr/>
        </p:nvSpPr>
        <p:spPr>
          <a:xfrm>
            <a:off x="6263640" y="78638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SERVICES MÉTIER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" y="123444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(Web, PWA), API Gateway, six services métier, couche de données, et intégration au PSP externe CinetPay.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468165" y="1636776"/>
            <a:ext cx="4207669" cy="3374136"/>
          </a:xfrm>
          <a:prstGeom prst="roundRect">
            <a:avLst>
              <a:gd name="adj" fmla="val 813"/>
            </a:avLst>
          </a:prstGeom>
          <a:solidFill>
            <a:srgbClr val="FFFFFF"/>
          </a:solidFill>
          <a:ln w="9525">
            <a:solidFill>
              <a:srgbClr val="E8E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pic>
        <p:nvPicPr>
          <p:cNvPr id="10" name="Image 1" descr="/home/claude/diagrams/05_compon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029" y="1691640"/>
            <a:ext cx="4097941" cy="326440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2" name="Text 8"/>
          <p:cNvSpPr/>
          <p:nvPr/>
        </p:nvSpPr>
        <p:spPr>
          <a:xfrm>
            <a:off x="7772400" y="48280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/ 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8872"/>
            <a:ext cx="150876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37760" y="15544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320040" y="603504"/>
            <a:ext cx="8503920" cy="0"/>
          </a:xfrm>
          <a:prstGeom prst="line">
            <a:avLst/>
          </a:prstGeom>
          <a:noFill/>
          <a:ln w="12700">
            <a:solidFill>
              <a:srgbClr val="E8E4D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20040" y="786384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physique et réseau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6263640" y="786384"/>
            <a:ext cx="2560320" cy="329184"/>
          </a:xfrm>
          <a:prstGeom prst="roundRect">
            <a:avLst>
              <a:gd name="adj" fmla="val 25000"/>
            </a:avLst>
          </a:prstGeom>
          <a:solidFill>
            <a:srgbClr val="F5C518"/>
          </a:solidFill>
          <a:ln/>
        </p:spPr>
      </p:sp>
      <p:sp>
        <p:nvSpPr>
          <p:cNvPr id="7" name="Text 4"/>
          <p:cNvSpPr/>
          <p:nvPr/>
        </p:nvSpPr>
        <p:spPr>
          <a:xfrm>
            <a:off x="6263640" y="78638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OVHCLOUD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" y="123444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Postes terrain hors-ligne, infrastructure cloud CEBEVIRHA redondante (serveurs API, PostgreSQL/PostGIS, Object Storage), intégration CinetPay.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325037" y="1636776"/>
            <a:ext cx="4493927" cy="3374136"/>
          </a:xfrm>
          <a:prstGeom prst="roundRect">
            <a:avLst>
              <a:gd name="adj" fmla="val 813"/>
            </a:avLst>
          </a:prstGeom>
          <a:solidFill>
            <a:srgbClr val="FFFFFF"/>
          </a:solidFill>
          <a:ln w="9525">
            <a:solidFill>
              <a:srgbClr val="E8E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pic>
        <p:nvPicPr>
          <p:cNvPr id="10" name="Image 1" descr="/home/claude/diagrams/06_deploym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9901" y="1691640"/>
            <a:ext cx="4384199" cy="326440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2" name="Text 8"/>
          <p:cNvSpPr/>
          <p:nvPr/>
        </p:nvSpPr>
        <p:spPr>
          <a:xfrm>
            <a:off x="7772400" y="48280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/ 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18872"/>
            <a:ext cx="1508760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37760" y="15544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PAIEMENT EN LIGNE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320040" y="603504"/>
            <a:ext cx="8503920" cy="0"/>
          </a:xfrm>
          <a:prstGeom prst="line">
            <a:avLst/>
          </a:prstGeom>
          <a:noFill/>
          <a:ln w="12700">
            <a:solidFill>
              <a:srgbClr val="E8E4D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20040" y="786384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choix CinetPay pour la zone CEMAC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537960" y="786384"/>
            <a:ext cx="2286000" cy="329184"/>
          </a:xfrm>
          <a:prstGeom prst="roundRect">
            <a:avLst>
              <a:gd name="adj" fmla="val 25000"/>
            </a:avLst>
          </a:prstGeom>
          <a:solidFill>
            <a:srgbClr val="F5C518"/>
          </a:solidFill>
          <a:ln/>
        </p:spPr>
      </p:sp>
      <p:sp>
        <p:nvSpPr>
          <p:cNvPr id="7" name="Text 4"/>
          <p:cNvSpPr/>
          <p:nvPr/>
        </p:nvSpPr>
        <p:spPr>
          <a:xfrm>
            <a:off x="6537960" y="78638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CEMAC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" y="1417320"/>
            <a:ext cx="1600200" cy="169164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E8E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1618488"/>
            <a:ext cx="685800" cy="685800"/>
          </a:xfrm>
          <a:prstGeom prst="ellipse">
            <a:avLst/>
          </a:prstGeom>
          <a:solidFill>
            <a:srgbClr val="E6F6EC"/>
          </a:solidFill>
          <a:ln/>
        </p:spPr>
      </p:sp>
      <p:pic>
        <p:nvPicPr>
          <p:cNvPr id="10" name="Image 1" descr="/home/claude/assets/globe_afric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1789938"/>
            <a:ext cx="342900" cy="3429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4904" y="2404872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Couverture CEMAC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374904" y="2743200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 M clients potentiels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Afrique centrale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2020824" y="1417320"/>
            <a:ext cx="1600200" cy="169164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E8E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478024" y="1618488"/>
            <a:ext cx="685800" cy="685800"/>
          </a:xfrm>
          <a:prstGeom prst="ellipse">
            <a:avLst/>
          </a:prstGeom>
          <a:solidFill>
            <a:srgbClr val="E6F6EC"/>
          </a:solidFill>
          <a:ln/>
        </p:spPr>
      </p:sp>
      <p:pic>
        <p:nvPicPr>
          <p:cNvPr id="15" name="Image 2" descr="/home/claude/assets/site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9474" y="1789938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075688" y="2404872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Intégration simple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2075688" y="2743200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JS, Python,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Go, Flutter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3721608" y="1417320"/>
            <a:ext cx="1600200" cy="169164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E8E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178808" y="1618488"/>
            <a:ext cx="685800" cy="685800"/>
          </a:xfrm>
          <a:prstGeom prst="ellipse">
            <a:avLst/>
          </a:prstGeom>
          <a:solidFill>
            <a:srgbClr val="E6F6EC"/>
          </a:solidFill>
          <a:ln/>
        </p:spPr>
      </p:sp>
      <p:pic>
        <p:nvPicPr>
          <p:cNvPr id="20" name="Image 3" descr="/home/claude/assets/credit_c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0258" y="1789938"/>
            <a:ext cx="342900" cy="3429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776472" y="2404872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hébergée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3776472" y="2743200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donnée bancaire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côté plateforme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5422392" y="1417320"/>
            <a:ext cx="1600200" cy="169164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E8E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5879592" y="1618488"/>
            <a:ext cx="685800" cy="685800"/>
          </a:xfrm>
          <a:prstGeom prst="ellipse">
            <a:avLst/>
          </a:prstGeom>
          <a:solidFill>
            <a:srgbClr val="E6F6EC"/>
          </a:solidFill>
          <a:ln/>
        </p:spPr>
      </p:sp>
      <p:pic>
        <p:nvPicPr>
          <p:cNvPr id="25" name="Image 4" descr="/home/claude/assets/shield_al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1042" y="1789938"/>
            <a:ext cx="342900" cy="3429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477256" y="2404872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Conformité locale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5477256" y="2743200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 ANTIC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(Cameroun)</a:t>
            </a:r>
            <a:endParaRPr lang="en-US" sz="850" dirty="0"/>
          </a:p>
        </p:txBody>
      </p:sp>
      <p:sp>
        <p:nvSpPr>
          <p:cNvPr id="28" name="Shape 21"/>
          <p:cNvSpPr/>
          <p:nvPr/>
        </p:nvSpPr>
        <p:spPr>
          <a:xfrm>
            <a:off x="7123176" y="1417320"/>
            <a:ext cx="1600200" cy="169164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E8E4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7580376" y="1618488"/>
            <a:ext cx="685800" cy="685800"/>
          </a:xfrm>
          <a:prstGeom prst="ellipse">
            <a:avLst/>
          </a:prstGeom>
          <a:solidFill>
            <a:srgbClr val="E6F6EC"/>
          </a:solidFill>
          <a:ln/>
        </p:spPr>
      </p:sp>
      <p:pic>
        <p:nvPicPr>
          <p:cNvPr id="30" name="Image 5" descr="/home/claude/assets/sync_al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1826" y="1789938"/>
            <a:ext cx="342900" cy="3429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178040" y="2404872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signé</a:t>
            </a:r>
            <a:endParaRPr lang="en-US" sz="1050" dirty="0"/>
          </a:p>
        </p:txBody>
      </p:sp>
      <p:sp>
        <p:nvSpPr>
          <p:cNvPr id="32" name="Text 24"/>
          <p:cNvSpPr/>
          <p:nvPr/>
        </p:nvSpPr>
        <p:spPr>
          <a:xfrm>
            <a:off x="7178040" y="2743200"/>
            <a:ext cx="1490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Compatible idempotence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réconciliation</a:t>
            </a:r>
            <a:endParaRPr lang="en-US" sz="850" dirty="0"/>
          </a:p>
        </p:txBody>
      </p:sp>
      <p:sp>
        <p:nvSpPr>
          <p:cNvPr id="33" name="Text 25"/>
          <p:cNvSpPr/>
          <p:nvPr/>
        </p:nvSpPr>
        <p:spPr>
          <a:xfrm>
            <a:off x="320040" y="342900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 de secours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320040" y="3730752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Monetbil (spécialisé Cameroun/CEMAC) peut être conservé comme option de repli technique ; l'architecture par API REST et webhook permet d'ajouter un second PSP sans remise en cause du reste de la plateforme.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6" name="Text 28"/>
          <p:cNvSpPr/>
          <p:nvPr/>
        </p:nvSpPr>
        <p:spPr>
          <a:xfrm>
            <a:off x="7772400" y="482803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/ 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097280"/>
            <a:ext cx="3657600" cy="3657600"/>
          </a:xfrm>
          <a:prstGeom prst="ellipse">
            <a:avLst/>
          </a:prstGeom>
          <a:solidFill>
            <a:srgbClr val="159A4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645920" y="3291840"/>
            <a:ext cx="3200400" cy="3200400"/>
          </a:xfrm>
          <a:prstGeom prst="ellipse">
            <a:avLst/>
          </a:prstGeom>
          <a:solidFill>
            <a:srgbClr val="159A4A">
              <a:alpha val="45000"/>
            </a:srgbClr>
          </a:solidFill>
          <a:ln/>
        </p:spPr>
      </p:sp>
      <p:pic>
        <p:nvPicPr>
          <p:cNvPr id="4" name="Image 0" descr="/home/claude/assets/logo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685800"/>
            <a:ext cx="2926080" cy="7461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920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conception complète,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371600" y="2331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cas d’usage au déploiement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114800" y="2971800"/>
            <a:ext cx="914400" cy="0"/>
          </a:xfrm>
          <a:prstGeom prst="line">
            <a:avLst/>
          </a:prstGeom>
          <a:noFill/>
          <a:ln w="25400">
            <a:solidFill>
              <a:srgbClr val="0B6B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0" y="32004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Onze diagrammes UML et un choix de paiement en ligne argumenté pour la zone CEMAC, prêts pour l'implémentation.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371600" y="4114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de votre attention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4526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4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CEBEVIRHA — Commission Économique du Bétail, de la Viande et des Ressources Halieutiques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F5C51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2026-08-13T17:25:22Z</dcterms:created>
  <dcterms:modified xsi:type="dcterms:W3CDTF">2026-08-13T17:25:22Z</dcterms:modified>
</cp:coreProperties>
</file>